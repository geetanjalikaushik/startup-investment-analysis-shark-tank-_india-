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CC49-2B48-31A5-6673-D5EB9D9A1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B7E79-9EA9-6915-7EE1-A82D50DE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C512B-1BCF-3B03-7B8A-9C94FA56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C38B5-EC53-B6FB-36D1-A79B1130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84A02-2F74-87DA-4B81-4D429EC8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76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9D26-7A95-92FE-1E6D-BF5E2C71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927E-E0B7-7F9E-4AB5-42122C5F9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C19B9-2832-7319-C787-743C435C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ECD81-9D36-DC67-DE77-9EAD9DEF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D1CEF-7C57-B5BA-6784-346799A6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3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C963-A035-E537-A1A8-DF7B4881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CC8D5-14CB-E87D-ADD9-F713EDC55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D877-63A3-C242-F10C-2B280CC7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7D225-E387-C3FE-C70F-4F0E1905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C0683-CB0F-BE5C-6A30-F3A5B4C0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51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7357-9C82-89EC-6FFD-B8231363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DE61-BF10-6A3A-DCE6-553FD2055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52AD4-FBE6-774D-1CB9-36DC47A28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269A9-0B08-FAD9-7FC4-F0DC552F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50517-A925-A45D-6A3A-D5657ABA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357E6-6FF3-127A-95E7-0C2B509D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0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06EE-4A93-0BBA-517C-193922B3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C6F2A-2634-4452-17AC-23A8E08EC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A6630-CB41-20F4-86EC-9CDE73FFB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1AED3-0395-EA68-E7F5-24CB01DB4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99F14-BF17-6452-FB13-C96BAA85A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17F29-EA05-8D8F-185E-97863D40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96647-A135-3FED-E655-624B1870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D6A29-400A-489F-9A57-D29CE53E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0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B33A-5B5A-386E-3154-F4DBEEE4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280B5-F600-2304-5D15-D037DA69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5199E-664D-5889-1FDF-5AF6E21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59047-ABA2-8E03-1414-E370C896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086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7008F-8664-402A-1936-0B67C76B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17DCB-6C01-FB07-200D-2171E381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B485-2F22-FBC6-8B41-7AC4264C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97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6FC0-7E38-7446-D1D9-36334BBE6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A579-263E-6977-7E17-0F5B1E269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B5290-79E4-BE63-0B4A-7A96DDAA9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599D7-0BDE-CF56-FCC1-17202741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6A1A2-E7AF-145A-5DDB-230AC6E0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FA594-D0C6-6A8D-6165-AA2C0112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52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38DC-452F-0240-9FA6-44BB00AB5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2273A-6E54-42AE-D309-E29693274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40EF1-85FD-BBE9-CE8E-BF0E06A89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84FFE-6B74-855B-2FA1-5EDF6570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EA389-42E2-A85D-80EE-12052348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1AD16-2067-1BBF-9236-FDB7AF60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31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128B-E4FB-47E0-44AF-1B83F532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A03AE-6E1E-0F2A-D05D-16216A8D0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491B0-2197-9707-2FBA-B4BA3FC2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B877E-B84D-9DE6-F63A-39223C3E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4CD43-B2AC-3992-EDF4-DA8423E0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11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FF90E-B181-FA2C-91E3-D6727C8B5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78114-5262-B410-48FA-C605663AA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E1287-C62F-AEC0-43E6-DD25DD5D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23A8-6FF4-4B33-C4A8-87BF7839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26E8F-11ED-9976-B099-98F3176B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2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560B8-A727-9EC2-9012-28EB91D4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D304A-31E8-13CA-5198-C3CCA73AA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BC0EC-2C93-AD7D-0DB8-98C2A08E2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23B45-C0DF-4EF0-9CE6-9293F767240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BA03-C365-CA2A-34E9-B96EEC64B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7C3CB-87BD-BF8D-CB18-1EA145B3E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DEF81-272D-4325-BFA5-E41AA467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74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F9D8-58F5-0495-194B-4EBAC4AA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0550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Startup Investment Analysis | Shark Tank India</a:t>
            </a:r>
            <a:br>
              <a:rPr lang="en-IN" sz="4000" dirty="0">
                <a:highlight>
                  <a:srgbClr val="0000FF"/>
                </a:highlight>
              </a:rPr>
            </a:br>
            <a:br>
              <a:rPr lang="en-IN" sz="4000" dirty="0">
                <a:highlight>
                  <a:srgbClr val="0000FF"/>
                </a:highlight>
              </a:rPr>
            </a:br>
            <a:r>
              <a:rPr lang="en-IN" sz="3100" spc="300" dirty="0">
                <a:solidFill>
                  <a:srgbClr val="0000FF"/>
                </a:solidFill>
              </a:rPr>
              <a:t>Prepared by: Geetanjali Kaushik </a:t>
            </a:r>
            <a:br>
              <a:rPr lang="en-IN" sz="3100" spc="300" dirty="0">
                <a:solidFill>
                  <a:srgbClr val="0000FF"/>
                </a:solidFill>
              </a:rPr>
            </a:br>
            <a:r>
              <a:rPr lang="en-IN" sz="3100" spc="300" dirty="0">
                <a:solidFill>
                  <a:srgbClr val="0000FF"/>
                </a:solidFill>
              </a:rPr>
              <a:t>Tools: Python | Power BI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0B427-70BF-7D28-CA90-79F6AD945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0712" y="2990088"/>
            <a:ext cx="5010912" cy="30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8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B3AB-605D-4870-7B30-E59E36FF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323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1. Project 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A242-C91A-B444-D96A-4D29A873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792"/>
            <a:ext cx="10515600" cy="4412171"/>
          </a:xfrm>
        </p:spPr>
        <p:txBody>
          <a:bodyPr>
            <a:normAutofit/>
          </a:bodyPr>
          <a:lstStyle/>
          <a:p>
            <a:r>
              <a:rPr lang="en-IN" dirty="0"/>
              <a:t>This project is based on </a:t>
            </a:r>
            <a:r>
              <a:rPr lang="en-IN" b="1" dirty="0"/>
              <a:t>Shark Tank India startup investment data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main objective was to analyse startup funding trends, investor behaviour, and founder success patterns using </a:t>
            </a:r>
            <a:r>
              <a:rPr lang="en-IN" b="1" dirty="0"/>
              <a:t>Python for data cleaning</a:t>
            </a:r>
            <a:r>
              <a:rPr lang="en-IN" dirty="0"/>
              <a:t> and </a:t>
            </a:r>
            <a:r>
              <a:rPr lang="en-IN" b="1" dirty="0"/>
              <a:t>Power BI for dashboard creation</a:t>
            </a:r>
            <a:r>
              <a:rPr lang="en-IN" dirty="0"/>
              <a:t>.</a:t>
            </a:r>
          </a:p>
          <a:p>
            <a:r>
              <a:rPr lang="en-IN" dirty="0"/>
              <a:t>The final dashboard was divided into three pages:</a:t>
            </a:r>
          </a:p>
          <a:p>
            <a:pPr lvl="0"/>
            <a:r>
              <a:rPr lang="en-IN" dirty="0"/>
              <a:t>Investment Overview</a:t>
            </a:r>
          </a:p>
          <a:p>
            <a:pPr lvl="0"/>
            <a:r>
              <a:rPr lang="en-IN" dirty="0"/>
              <a:t>Investor Investment Analysis</a:t>
            </a:r>
          </a:p>
          <a:p>
            <a:pPr lvl="0"/>
            <a:r>
              <a:rPr lang="en-IN" dirty="0"/>
              <a:t>Founder &amp; Business Performance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59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6F40-1CA5-5C4E-4024-D4F8BF51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7542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b="1" dirty="0">
                <a:solidFill>
                  <a:schemeClr val="bg1"/>
                </a:solidFill>
                <a:highlight>
                  <a:srgbClr val="000080"/>
                </a:highlight>
              </a:rPr>
              <a:t>2. Tools Used  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0291D-0FA6-A295-E115-D49FC0B40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0280"/>
            <a:ext cx="10515600" cy="3392424"/>
          </a:xfrm>
        </p:spPr>
        <p:txBody>
          <a:bodyPr>
            <a:normAutofit/>
          </a:bodyPr>
          <a:lstStyle/>
          <a:p>
            <a:r>
              <a:rPr lang="en-IN" dirty="0"/>
              <a:t>I used:</a:t>
            </a:r>
          </a:p>
          <a:p>
            <a:pPr lvl="0"/>
            <a:r>
              <a:rPr lang="en-IN" b="1" dirty="0"/>
              <a:t>Python (Pandas, NumPy)</a:t>
            </a:r>
            <a:r>
              <a:rPr lang="en-IN" dirty="0"/>
              <a:t> for data cleaning and preprocessing</a:t>
            </a:r>
          </a:p>
          <a:p>
            <a:pPr lvl="0"/>
            <a:r>
              <a:rPr lang="en-IN" b="1" dirty="0"/>
              <a:t>Power Query</a:t>
            </a:r>
            <a:r>
              <a:rPr lang="en-IN" dirty="0"/>
              <a:t> for reshaping investor-wise data</a:t>
            </a:r>
          </a:p>
          <a:p>
            <a:pPr lvl="0"/>
            <a:r>
              <a:rPr lang="en-IN" b="1" dirty="0"/>
              <a:t>Power BI</a:t>
            </a:r>
            <a:r>
              <a:rPr lang="en-IN" dirty="0"/>
              <a:t> for dashboard design and analysis</a:t>
            </a:r>
          </a:p>
          <a:p>
            <a:pPr lvl="0"/>
            <a:r>
              <a:rPr lang="en-IN" b="1" dirty="0"/>
              <a:t>DAX</a:t>
            </a:r>
            <a:r>
              <a:rPr lang="en-IN" dirty="0"/>
              <a:t> for KPIs and calculated measures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085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0EAF-1B20-EAE1-7EB2-B1DF891F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7955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chemeClr val="bg1"/>
                </a:solidFill>
                <a:highlight>
                  <a:srgbClr val="000080"/>
                </a:highlight>
              </a:rPr>
              <a:t>3. 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CB5D-1019-EE54-CB78-AF91D935D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3119"/>
            <a:ext cx="10515600" cy="4073843"/>
          </a:xfrm>
        </p:spPr>
        <p:txBody>
          <a:bodyPr/>
          <a:lstStyle/>
          <a:p>
            <a:r>
              <a:rPr lang="en-IN" dirty="0"/>
              <a:t>The purpose of this project was to answer key business questions such as:</a:t>
            </a:r>
          </a:p>
          <a:p>
            <a:pPr lvl="0"/>
            <a:r>
              <a:rPr lang="en-IN" dirty="0"/>
              <a:t>Which industries receive the highest funding?</a:t>
            </a:r>
          </a:p>
          <a:p>
            <a:pPr lvl="0"/>
            <a:r>
              <a:rPr lang="en-IN" dirty="0"/>
              <a:t>Which investors contribute the most capital?</a:t>
            </a:r>
          </a:p>
          <a:p>
            <a:pPr lvl="0"/>
            <a:r>
              <a:rPr lang="en-IN" dirty="0"/>
              <a:t>Does founder team size affect funding success?</a:t>
            </a:r>
          </a:p>
          <a:p>
            <a:pPr lvl="0"/>
            <a:r>
              <a:rPr lang="en-IN" dirty="0"/>
              <a:t>Do revenue and patents influence investment decisions?</a:t>
            </a:r>
          </a:p>
          <a:p>
            <a:r>
              <a:rPr lang="en-IN" dirty="0"/>
              <a:t>This helped convert raw startup pitch data into meaningful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96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3807-B812-2777-B659-5222BD5F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4. Python Workflow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B3E99-1E1E-0D44-9E5A-AEF2284AE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84319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Step 1: </a:t>
            </a:r>
            <a:r>
              <a:rPr lang="en-IN" sz="3800" b="1" dirty="0">
                <a:solidFill>
                  <a:srgbClr val="0000FF"/>
                </a:solidFill>
              </a:rPr>
              <a:t>Import Dataset</a:t>
            </a:r>
            <a:endParaRPr lang="en-IN" sz="3800" dirty="0">
              <a:solidFill>
                <a:srgbClr val="0000FF"/>
              </a:solidFill>
            </a:endParaRPr>
          </a:p>
          <a:p>
            <a:r>
              <a:rPr lang="en-IN" sz="3800" dirty="0"/>
              <a:t>I loaded the CSV file into Python using Pandas.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Step 2: </a:t>
            </a:r>
            <a:r>
              <a:rPr lang="en-IN" sz="3800" b="1" dirty="0">
                <a:solidFill>
                  <a:srgbClr val="0000FF"/>
                </a:solidFill>
              </a:rPr>
              <a:t>Understand the Data</a:t>
            </a:r>
            <a:endParaRPr lang="en-IN" sz="3800" dirty="0">
              <a:solidFill>
                <a:srgbClr val="0000FF"/>
              </a:solidFill>
            </a:endParaRPr>
          </a:p>
          <a:p>
            <a:r>
              <a:rPr lang="en-IN" sz="3800" dirty="0"/>
              <a:t>I checked:</a:t>
            </a:r>
          </a:p>
          <a:p>
            <a:pPr lvl="0"/>
            <a:r>
              <a:rPr lang="en-IN" sz="3800" dirty="0"/>
              <a:t>number of rows and columns</a:t>
            </a:r>
          </a:p>
          <a:p>
            <a:pPr lvl="0"/>
            <a:r>
              <a:rPr lang="en-IN" sz="3800" dirty="0"/>
              <a:t>column names</a:t>
            </a:r>
          </a:p>
          <a:p>
            <a:pPr lvl="0"/>
            <a:r>
              <a:rPr lang="en-IN" sz="3800" dirty="0"/>
              <a:t>missing values</a:t>
            </a:r>
          </a:p>
          <a:p>
            <a:pPr lvl="0"/>
            <a:r>
              <a:rPr lang="en-IN" sz="3800" dirty="0"/>
              <a:t>data 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Step 3: </a:t>
            </a:r>
            <a:r>
              <a:rPr lang="en-IN" sz="3800" b="1" dirty="0">
                <a:solidFill>
                  <a:srgbClr val="0000FF"/>
                </a:solidFill>
              </a:rPr>
              <a:t>Clean the Data</a:t>
            </a:r>
            <a:endParaRPr lang="en-IN" sz="3800" dirty="0">
              <a:solidFill>
                <a:srgbClr val="0000FF"/>
              </a:solidFill>
            </a:endParaRPr>
          </a:p>
          <a:p>
            <a:r>
              <a:rPr lang="en-IN" sz="3800" dirty="0"/>
              <a:t>I cleaned:</a:t>
            </a:r>
          </a:p>
          <a:p>
            <a:pPr lvl="0"/>
            <a:r>
              <a:rPr lang="en-IN" sz="3800" dirty="0"/>
              <a:t>numeric columns</a:t>
            </a:r>
          </a:p>
          <a:p>
            <a:pPr lvl="0"/>
            <a:r>
              <a:rPr lang="en-IN" sz="3800" dirty="0"/>
              <a:t>blank values</a:t>
            </a:r>
          </a:p>
          <a:p>
            <a:pPr lvl="0"/>
            <a:r>
              <a:rPr lang="en-IN" sz="3800" dirty="0"/>
              <a:t>column names</a:t>
            </a:r>
          </a:p>
          <a:p>
            <a:pPr lvl="0"/>
            <a:r>
              <a:rPr lang="en-IN" sz="3800" dirty="0"/>
              <a:t>formatting inconsistencies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A35F4-469D-7ADC-C50F-B549E8C160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Step 4: </a:t>
            </a:r>
            <a:r>
              <a:rPr lang="en-IN" sz="3800" b="1" dirty="0">
                <a:solidFill>
                  <a:srgbClr val="0000FF"/>
                </a:solidFill>
              </a:rPr>
              <a:t>Create New Business Columns</a:t>
            </a:r>
            <a:endParaRPr lang="en-IN" sz="3800" dirty="0">
              <a:solidFill>
                <a:srgbClr val="0000FF"/>
              </a:solidFill>
            </a:endParaRPr>
          </a:p>
          <a:p>
            <a:r>
              <a:rPr lang="en-IN" sz="3800" dirty="0"/>
              <a:t>I created:</a:t>
            </a:r>
          </a:p>
          <a:p>
            <a:pPr lvl="0"/>
            <a:r>
              <a:rPr lang="en-IN" sz="3800" b="1" dirty="0"/>
              <a:t>Funding Success</a:t>
            </a:r>
            <a:endParaRPr lang="en-IN" sz="3800" dirty="0"/>
          </a:p>
          <a:p>
            <a:pPr lvl="0"/>
            <a:r>
              <a:rPr lang="en-IN" sz="3800" dirty="0"/>
              <a:t>investor-based cleaned fields</a:t>
            </a:r>
          </a:p>
          <a:p>
            <a:pPr lvl="0"/>
            <a:r>
              <a:rPr lang="en-IN" sz="3800" dirty="0"/>
              <a:t>structured numeric columns for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Step 5: </a:t>
            </a:r>
            <a:r>
              <a:rPr lang="en-IN" sz="3800" b="1" dirty="0">
                <a:solidFill>
                  <a:srgbClr val="0000FF"/>
                </a:solidFill>
              </a:rPr>
              <a:t>Export Cleaned File</a:t>
            </a:r>
            <a:endParaRPr lang="en-IN" sz="3800" dirty="0">
              <a:solidFill>
                <a:srgbClr val="0000FF"/>
              </a:solidFill>
            </a:endParaRPr>
          </a:p>
          <a:p>
            <a:r>
              <a:rPr lang="en-IN" sz="3800" dirty="0"/>
              <a:t>I saved the final cleaned dataset as a CSV and imported it into Power BI.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9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4C83-1B0E-66AE-5E1A-21BFFA57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5. Power BI Workflow</a:t>
            </a:r>
            <a:endParaRPr lang="en-IN" sz="400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0CB8-F86C-9F5E-89F4-BBD293E3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After Python cleaning, I imported the cleaned dataset into Power BI.</a:t>
            </a:r>
          </a:p>
          <a:p>
            <a:r>
              <a:rPr lang="en-IN" dirty="0"/>
              <a:t>Then I performed: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Data modelling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Power Query transformations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DAX calculations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Dashboard design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3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CE7C-A5B1-D7EC-C835-ECDF6B25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457"/>
            <a:ext cx="10515600" cy="914400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b="1" dirty="0">
                <a:solidFill>
                  <a:schemeClr val="bg1"/>
                </a:solidFill>
                <a:highlight>
                  <a:srgbClr val="000080"/>
                </a:highlight>
              </a:rPr>
              <a:t>6. Investment Overview (Page 1)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850-D2DD-9B86-9819-B5FC99A62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4805363"/>
          </a:xfrm>
        </p:spPr>
        <p:txBody>
          <a:bodyPr>
            <a:normAutofit fontScale="92500" lnSpcReduction="10000"/>
          </a:bodyPr>
          <a:lstStyle/>
          <a:p>
            <a:r>
              <a:rPr lang="en-IN" sz="1800" dirty="0"/>
              <a:t>This page gives the overall startup funding picture.</a:t>
            </a:r>
          </a:p>
          <a:p>
            <a:r>
              <a:rPr lang="en-IN" sz="1800" dirty="0"/>
              <a:t>It includes KPIs such as: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38 total startups</a:t>
            </a:r>
            <a:endParaRPr lang="en-IN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5.16K total funding</a:t>
            </a:r>
            <a:endParaRPr lang="en-IN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38 funded startups</a:t>
            </a:r>
            <a:endParaRPr lang="en-IN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100% funding success</a:t>
            </a:r>
            <a:endParaRPr lang="en-IN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62.90 average deal amount</a:t>
            </a:r>
            <a:r>
              <a:rPr lang="en-IN" sz="1800" dirty="0"/>
              <a:t> </a:t>
            </a:r>
          </a:p>
          <a:p>
            <a:r>
              <a:rPr lang="en-IN" sz="1900" b="1" dirty="0"/>
              <a:t>Insights from this page:</a:t>
            </a:r>
            <a:endParaRPr lang="en-IN" sz="1900" dirty="0"/>
          </a:p>
          <a:p>
            <a:pPr lvl="0"/>
            <a:r>
              <a:rPr lang="en-IN" sz="1900" dirty="0"/>
              <a:t>Some industries attract more funding than others.</a:t>
            </a:r>
          </a:p>
          <a:p>
            <a:pPr lvl="0"/>
            <a:r>
              <a:rPr lang="en-IN" sz="1900" dirty="0"/>
              <a:t>Beauty/Fashion, Food, and Entertainment appear among the stronger sectors in the dashboard visuals. </a:t>
            </a:r>
          </a:p>
          <a:p>
            <a:r>
              <a:rPr lang="en-IN" sz="1900" dirty="0"/>
              <a:t>Funding trends also vary by season and geography. </a:t>
            </a:r>
          </a:p>
          <a:p>
            <a:pPr lvl="0"/>
            <a:endParaRPr lang="en-IN" sz="1900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53CC2D-9212-AC2A-9495-4F8122CA76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371600"/>
            <a:ext cx="5608318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52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FA81-57DA-1A0A-58A6-18955F93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899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7. Investor Investment Analysis (Page 2)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026E6-635C-338C-4882-FDD9FF75E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063"/>
            <a:ext cx="10515600" cy="4837811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This page focuses on investor behaviour.</a:t>
            </a:r>
          </a:p>
          <a:p>
            <a:r>
              <a:rPr lang="en-IN" sz="2400" dirty="0"/>
              <a:t>I transformed investor amount columns into a long format using Power Query so that I could analyse:</a:t>
            </a:r>
          </a:p>
          <a:p>
            <a:pPr lvl="0"/>
            <a:r>
              <a:rPr lang="en-IN" sz="2400" dirty="0"/>
              <a:t>investor-wise total capital deployment</a:t>
            </a:r>
          </a:p>
          <a:p>
            <a:pPr lvl="0"/>
            <a:r>
              <a:rPr lang="en-IN" sz="2400" dirty="0"/>
              <a:t>deal participation count</a:t>
            </a:r>
          </a:p>
          <a:p>
            <a:pPr lvl="0"/>
            <a:r>
              <a:rPr lang="en-IN" sz="2400" dirty="0"/>
              <a:t>average investment per deal</a:t>
            </a:r>
          </a:p>
          <a:p>
            <a:r>
              <a:rPr lang="en-IN" sz="2400" dirty="0"/>
              <a:t>The dashboard shows total investment of </a:t>
            </a:r>
            <a:r>
              <a:rPr lang="en-IN" sz="2400" b="1" dirty="0"/>
              <a:t>2.64K</a:t>
            </a:r>
            <a:r>
              <a:rPr lang="en-IN" sz="2400" dirty="0"/>
              <a:t> and average investment per deal of </a:t>
            </a:r>
            <a:r>
              <a:rPr lang="en-IN" sz="2400" b="1" dirty="0"/>
              <a:t>32.15</a:t>
            </a:r>
            <a:r>
              <a:rPr lang="en-IN" sz="2400" dirty="0"/>
              <a:t>, along with investor rankings and startup-wise deal details. </a:t>
            </a:r>
          </a:p>
          <a:p>
            <a:r>
              <a:rPr lang="en-IN" sz="2400" b="1" dirty="0">
                <a:solidFill>
                  <a:schemeClr val="bg1"/>
                </a:solidFill>
                <a:highlight>
                  <a:srgbClr val="000080"/>
                </a:highlight>
              </a:rPr>
              <a:t>Insights  : -</a:t>
            </a:r>
            <a:endParaRPr lang="en-IN" sz="2400" dirty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A few investors contribute most of the funding.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Some sharks invest more money in fewer deals.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/>
              <a:t>Others participate in more deals with smaller ticket sizes. </a:t>
            </a:r>
          </a:p>
          <a:p>
            <a:pPr marL="0" lvl="0" indent="0">
              <a:buNone/>
            </a:pPr>
            <a:r>
              <a:rPr lang="en-IN" sz="2400" dirty="0"/>
              <a:t> </a:t>
            </a:r>
          </a:p>
          <a:p>
            <a:pPr marL="0" lvl="0" indent="0">
              <a:buNone/>
            </a:pPr>
            <a:r>
              <a:rPr lang="en-IN" sz="2400" dirty="0"/>
              <a:t>Dashboard Image is available on the next page </a:t>
            </a:r>
          </a:p>
          <a:p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4213711-C339-97D0-0047-4A469F35D992}"/>
              </a:ext>
            </a:extLst>
          </p:cNvPr>
          <p:cNvSpPr/>
          <p:nvPr/>
        </p:nvSpPr>
        <p:spPr>
          <a:xfrm>
            <a:off x="6757416" y="6044184"/>
            <a:ext cx="822960" cy="448690"/>
          </a:xfrm>
          <a:prstGeom prst="rightArrow">
            <a:avLst/>
          </a:prstGeom>
          <a:gradFill>
            <a:gsLst>
              <a:gs pos="8100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0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D72A-30F1-65F9-601A-9E9872C8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705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Dashboard Page 2 – Investor Investment Analysis</a:t>
            </a:r>
            <a:endParaRPr lang="en-IN" sz="400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12400C-681A-AA12-0EA0-22B6A1821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152" y="1737360"/>
            <a:ext cx="9656063" cy="464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6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40D1-B0A5-3CE7-C960-7C9D4B18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b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8. Founder &amp; Business Performance Analysis (Page 3)</a:t>
            </a:r>
            <a:br>
              <a:rPr lang="en-IN" dirty="0">
                <a:highlight>
                  <a:srgbClr val="000080"/>
                </a:highlight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2B04-27A9-39C2-E6CF-C60D030F6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7"/>
            <a:ext cx="10515600" cy="5129784"/>
          </a:xfrm>
        </p:spPr>
        <p:txBody>
          <a:bodyPr>
            <a:normAutofit fontScale="25000" lnSpcReduction="20000"/>
          </a:bodyPr>
          <a:lstStyle/>
          <a:p>
            <a:r>
              <a:rPr lang="en-IN" sz="9600" dirty="0"/>
              <a:t>This page connects founder characteristics with funding outcomes.</a:t>
            </a:r>
          </a:p>
          <a:p>
            <a:r>
              <a:rPr lang="en-IN" sz="9600" dirty="0"/>
              <a:t>It includes:</a:t>
            </a:r>
          </a:p>
          <a:p>
            <a:pPr lvl="0"/>
            <a:r>
              <a:rPr lang="en-IN" sz="9600" b="1" dirty="0"/>
              <a:t>KPI 1 - Average Presenters = 2.32</a:t>
            </a:r>
            <a:endParaRPr lang="en-IN" sz="9600" dirty="0"/>
          </a:p>
          <a:p>
            <a:pPr lvl="0"/>
            <a:r>
              <a:rPr lang="en-IN" sz="9600" b="1" dirty="0"/>
              <a:t>KPI 2 - Average Yearly Revenue = 1.16K</a:t>
            </a:r>
            <a:endParaRPr lang="en-IN" sz="9600" dirty="0"/>
          </a:p>
          <a:p>
            <a:pPr lvl="0"/>
            <a:r>
              <a:rPr lang="en-IN" sz="9600" b="1" dirty="0"/>
              <a:t>KPI 3 - Patent Impact % = 1</a:t>
            </a:r>
            <a:r>
              <a:rPr lang="en-IN" sz="9600" dirty="0"/>
              <a:t> </a:t>
            </a:r>
          </a:p>
          <a:p>
            <a:pPr lvl="0"/>
            <a:r>
              <a:rPr lang="en-IN" sz="9600" dirty="0"/>
              <a:t>Visual 1 - funding success vs number of presenters</a:t>
            </a:r>
          </a:p>
          <a:p>
            <a:pPr lvl="0"/>
            <a:r>
              <a:rPr lang="en-IN" sz="9600" dirty="0"/>
              <a:t>Visual 2 - gender-based funding distribution</a:t>
            </a:r>
          </a:p>
          <a:p>
            <a:pPr lvl="0"/>
            <a:r>
              <a:rPr lang="en-IN" sz="9600" dirty="0"/>
              <a:t>Visual 3 - revenue vs investment pattern</a:t>
            </a:r>
          </a:p>
          <a:p>
            <a:pPr lvl="0"/>
            <a:r>
              <a:rPr lang="en-IN" sz="9600" dirty="0"/>
              <a:t>Visual 4 - patent impact on funding </a:t>
            </a:r>
          </a:p>
          <a:p>
            <a:r>
              <a:rPr lang="en-IN" sz="9600" b="1" dirty="0">
                <a:solidFill>
                  <a:schemeClr val="bg1"/>
                </a:solidFill>
                <a:highlight>
                  <a:srgbClr val="000080"/>
                </a:highlight>
              </a:rPr>
              <a:t>Insights:</a:t>
            </a:r>
            <a:endParaRPr lang="en-IN" sz="9600" dirty="0">
              <a:solidFill>
                <a:schemeClr val="bg1"/>
              </a:solidFill>
              <a:highlight>
                <a:srgbClr val="000080"/>
              </a:highlight>
            </a:endParaRPr>
          </a:p>
          <a:p>
            <a:pPr lvl="0"/>
            <a:r>
              <a:rPr lang="en-IN" sz="9600" dirty="0"/>
              <a:t>Team-based startups often perform better in funding.</a:t>
            </a:r>
          </a:p>
          <a:p>
            <a:pPr lvl="0"/>
            <a:r>
              <a:rPr lang="en-IN" sz="9600" dirty="0"/>
              <a:t>Funding varies across male-led, female-led, and mixed teams.</a:t>
            </a:r>
          </a:p>
          <a:p>
            <a:pPr lvl="0"/>
            <a:r>
              <a:rPr lang="en-IN" sz="9600" dirty="0"/>
              <a:t>Startups with stronger revenue and patents generally attract more investor interest.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22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4037-D6B1-9B6D-21F9-4A31EB74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  <a:highlight>
                  <a:srgbClr val="000080"/>
                </a:highlight>
              </a:rPr>
              <a:t>Dashboard Page 3 – Founder &amp; Business Performance Analysis 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45CFEE-0B19-425A-E170-1BB58FE4A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312" y="1825624"/>
            <a:ext cx="9217152" cy="455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9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FB3A-2C3A-00D5-7347-8568AE37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9. Key Skills Demonstrated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83F0C-DD47-F2FB-EE6C-1F3CACF6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Through this project, I demonstrated: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Python data cleaning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Pandas preprocessing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Power Query transformation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DAX measure creation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dashboard development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business insight generation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data storytelling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614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D82D-1088-65D9-2C0F-F2B27FA7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</a:br>
            <a:r>
              <a:rPr lang="en-IN" sz="4000" b="1" dirty="0">
                <a:solidFill>
                  <a:schemeClr val="bg1"/>
                </a:solidFill>
                <a:highlight>
                  <a:srgbClr val="000080"/>
                </a:highlight>
              </a:rPr>
              <a:t>10. Final 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4DE7A-6D4B-F82C-C39F-CA8231459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Presentation conclusion: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“</a:t>
            </a:r>
            <a:r>
              <a:rPr lang="en-IN" sz="3200" dirty="0"/>
              <a:t>This project helped me analyse the Shark Tank India startup ecosystem from multiple perspectives — industry funding, investor behaviour, and founder performance. Python helped me prepare clean and structured data, while Power BI helped me convert that data into interactive dashboards and business insights.”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46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7F46-51AB-F958-105D-889A5D2A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5496"/>
            <a:ext cx="10515600" cy="1883664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highlight>
                  <a:srgbClr val="000080"/>
                </a:highlight>
              </a:rPr>
              <a:t>Thank You </a:t>
            </a:r>
            <a:r>
              <a:rPr lang="en-US" sz="4800" dirty="0">
                <a:solidFill>
                  <a:schemeClr val="bg1"/>
                </a:solidFill>
                <a:highlight>
                  <a:srgbClr val="000080"/>
                </a:highlight>
                <a:sym typeface="Wingdings" panose="05000000000000000000" pitchFamily="2" charset="2"/>
              </a:rPr>
              <a:t> </a:t>
            </a:r>
            <a:endParaRPr lang="en-IN" sz="480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987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734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Startup Investment Analysis | Shark Tank India  Prepared by: Geetanjali Kaushik  Tools: Python | Power BI </vt:lpstr>
      <vt:lpstr> 1. Project Introduction </vt:lpstr>
      <vt:lpstr> 2. Tools Used  : </vt:lpstr>
      <vt:lpstr> 3. Problem Statement </vt:lpstr>
      <vt:lpstr>4. Python Workflow </vt:lpstr>
      <vt:lpstr>5. Power BI Workflow</vt:lpstr>
      <vt:lpstr> 6. Investment Overview (Page 1) </vt:lpstr>
      <vt:lpstr> 7. Investor Investment Analysis (Page 2) </vt:lpstr>
      <vt:lpstr>Dashboard Page 2 – Investor Investment Analysis</vt:lpstr>
      <vt:lpstr>  8. Founder &amp; Business Performance Analysis (Page 3)  </vt:lpstr>
      <vt:lpstr>Dashboard Page 3 – Founder &amp; Business Performance Analysis </vt:lpstr>
      <vt:lpstr> 9. Key Skills Demonstrated </vt:lpstr>
      <vt:lpstr> 10. Final Conclusion 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Geetanjali Kaushik</dc:creator>
  <cp:lastModifiedBy>Geetanjali Kaushik</cp:lastModifiedBy>
  <cp:revision>65</cp:revision>
  <dcterms:created xsi:type="dcterms:W3CDTF">2026-03-12T08:42:15Z</dcterms:created>
  <dcterms:modified xsi:type="dcterms:W3CDTF">2026-03-12T12:00:09Z</dcterms:modified>
</cp:coreProperties>
</file>